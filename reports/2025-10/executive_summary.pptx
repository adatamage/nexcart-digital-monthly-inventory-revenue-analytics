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1371600"/>
          </a:xfrm>
          <a:prstGeom prst="rect">
            <a:avLst/>
          </a:prstGeom>
          <a:noFill/>
        </p:spPr>
        <p:txBody>
          <a:bodyPr wrap="none">
            <a:spAutoFit/>
          </a:bodyPr>
          <a:lstStyle/>
          <a:p>
            <a:pPr algn="ctr">
              <a:defRPr sz="4400" b="1">
                <a:solidFill>
                  <a:srgbClr val="FFFFFF"/>
                </a:solidFill>
              </a:defRPr>
            </a:pPr>
            <a:r>
              <a:t>Executive Summary Report</a:t>
            </a:r>
          </a:p>
        </p:txBody>
      </p:sp>
      <p:sp>
        <p:nvSpPr>
          <p:cNvPr id="4" name="TextBox 3"/>
          <p:cNvSpPr txBox="1"/>
          <p:nvPr/>
        </p:nvSpPr>
        <p:spPr>
          <a:xfrm>
            <a:off x="914400" y="3657600"/>
            <a:ext cx="7315200" cy="914400"/>
          </a:xfrm>
          <a:prstGeom prst="rect">
            <a:avLst/>
          </a:prstGeom>
          <a:noFill/>
        </p:spPr>
        <p:txBody>
          <a:bodyPr wrap="none">
            <a:spAutoFit/>
          </a:bodyPr>
          <a:lstStyle/>
          <a:p>
            <a:pPr algn="ctr">
              <a:defRPr sz="2800">
                <a:solidFill>
                  <a:srgbClr val="FFFFFF"/>
                </a:solidFill>
              </a:defRPr>
            </a:pPr>
            <a:r>
              <a:t>October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a:solidFill>
                  <a:srgbClr val="3498DB"/>
                </a:solidFill>
              </a:defRPr>
            </a:pPr>
            <a:r>
              <a:t>Executive Summary</a:t>
            </a:r>
          </a:p>
        </p:txBody>
      </p:sp>
      <p:sp>
        <p:nvSpPr>
          <p:cNvPr id="3" name="Content Placeholder 2"/>
          <p:cNvSpPr>
            <a:spLocks noGrp="1"/>
          </p:cNvSpPr>
          <p:nvPr>
            <p:ph idx="1"/>
          </p:nvPr>
        </p:nvSpPr>
        <p:spPr/>
        <p:txBody>
          <a:bodyPr wrap="square"/>
          <a:lstStyle/>
          <a:p>
            <a:pPr>
              <a:defRPr sz="1800">
                <a:solidFill>
                  <a:srgbClr val="2C3E50"/>
                </a:solidFill>
              </a:defRPr>
            </a:pPr>
            <a:r>
              <a:t>October 2025 shows a solid average order value (AOV) of $726.78 despite a relatively low total order count of 36. While total revenue is respectable, understanding the drivers of the high AOV and optimizing lower-performing channels should be priorities. The lack of inventory, customer, and detailed financial data limits a more in-depth analysis and identification of further strategic opportunities.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Sales &amp; Channel Performance</a:t>
            </a:r>
          </a:p>
        </p:txBody>
      </p:sp>
      <p:sp>
        <p:nvSpPr>
          <p:cNvPr id="3" name="TextBox 2"/>
          <p:cNvSpPr txBox="1"/>
          <p:nvPr/>
        </p:nvSpPr>
        <p:spPr>
          <a:xfrm>
            <a:off x="457200" y="1371600"/>
            <a:ext cx="8229600" cy="1828800"/>
          </a:xfrm>
          <a:prstGeom prst="rect">
            <a:avLst/>
          </a:prstGeom>
          <a:noFill/>
        </p:spPr>
        <p:txBody>
          <a:bodyPr wrap="square">
            <a:spAutoFit/>
          </a:bodyPr>
          <a:lstStyle/>
          <a:p>
            <a:pPr>
              <a:defRPr sz="1400">
                <a:solidFill>
                  <a:srgbClr val="2C3E50"/>
                </a:solidFill>
              </a:defRPr>
            </a:pPr>
            <a:r>
              <a:t>*   **Channel Performance Disparity:** eBay and Retail POS contribute the most gross revenue, followed by Amazon and then Shopify. However, Amazon shows the highest percentage difference between gross and net revenue, indicating potentially higher fees or return rates on that platform. *   **High AOV Driver:** The high AOV, while positive, needs further investigation. Is it driven by specific product categories, bundled sales, or a concentration of high-value customers on particular channels? Understanding the "why" behind the AOV is crucial for sustainability and growth. *   **Shopify Opportunity:** The Shopify store exhibits the lowest gross and net revenue among the four channels, despite having potentially higher profit margins due to lower commission fees. This channel presents a significant opportunity for growth by focusing on improving its marketing and conversion rates. *   **Order Volume Considerations:** The low number of total orders indicates a potential bottleneck in customer acquisition. Growing the overall number of orders is crucial to significantly increase revenue.</a:t>
            </a:r>
          </a:p>
        </p:txBody>
      </p:sp>
      <p:graphicFrame>
        <p:nvGraphicFramePr>
          <p:cNvPr id="4" name="Table 3"/>
          <p:cNvGraphicFramePr>
            <a:graphicFrameLocks noGrp="1"/>
          </p:cNvGraphicFramePr>
          <p:nvPr/>
        </p:nvGraphicFramePr>
        <p:xfrm>
          <a:off x="457200" y="3474720"/>
          <a:ext cx="8229600" cy="2286000"/>
        </p:xfrm>
        <a:graphic>
          <a:graphicData uri="http://schemas.openxmlformats.org/drawingml/2006/table">
            <a:tbl>
              <a:tblPr firstRow="1" bandRow="1">
                <a:tableStyleId>{5C22544A-7EE6-4342-B048-85BDC9FD1C3A}</a:tableStyleId>
              </a:tblPr>
              <a:tblGrid>
                <a:gridCol w="4114800"/>
                <a:gridCol w="4114800"/>
              </a:tblGrid>
              <a:tr h="762000">
                <a:tc>
                  <a:txBody>
                    <a:bodyPr/>
                    <a:lstStyle/>
                    <a:p>
                      <a:r>
                        <a:t>Metric</a:t>
                      </a:r>
                    </a:p>
                  </a:txBody>
                  <a:tcPr>
                    <a:solidFill>
                      <a:srgbClr val="3498DB"/>
                    </a:solidFill>
                  </a:tcPr>
                </a:tc>
                <a:tc>
                  <a:txBody>
                    <a:bodyPr/>
                    <a:lstStyle/>
                    <a:p>
                      <a:r>
                        <a:t>Value</a:t>
                      </a:r>
                    </a:p>
                  </a:txBody>
                  <a:tcPr>
                    <a:solidFill>
                      <a:srgbClr val="3498DB"/>
                    </a:solidFill>
                  </a:tcPr>
                </a:tc>
              </a:tr>
              <a:tr h="762000">
                <a:tc>
                  <a:txBody>
                    <a:bodyPr/>
                    <a:lstStyle/>
                    <a:p>
                      <a:pPr>
                        <a:defRPr sz="1200"/>
                      </a:pPr>
                      <a:r>
                        <a:t>Total Gross Revenue</a:t>
                      </a:r>
                    </a:p>
                  </a:txBody>
                  <a:tcPr>
                    <a:solidFill>
                      <a:srgbClr val="ECF0F1"/>
                    </a:solidFill>
                  </a:tcPr>
                </a:tc>
                <a:tc>
                  <a:txBody>
                    <a:bodyPr/>
                    <a:lstStyle/>
                    <a:p>
                      <a:pPr>
                        <a:defRPr sz="1200"/>
                      </a:pPr>
                      <a:r>
                        <a:t>$26,163.97</a:t>
                      </a:r>
                    </a:p>
                  </a:txBody>
                  <a:tcPr/>
                </a:tc>
              </a:tr>
              <a:tr h="762000">
                <a:tc>
                  <a:txBody>
                    <a:bodyPr/>
                    <a:lstStyle/>
                    <a:p>
                      <a:pPr>
                        <a:defRPr sz="1200"/>
                      </a:pPr>
                      <a:r>
                        <a:t>Total Orders</a:t>
                      </a:r>
                    </a:p>
                  </a:txBody>
                  <a:tcPr>
                    <a:solidFill>
                      <a:srgbClr val="ECF0F1"/>
                    </a:solidFill>
                  </a:tcPr>
                </a:tc>
                <a:tc>
                  <a:txBody>
                    <a:bodyPr/>
                    <a:lstStyle/>
                    <a:p>
                      <a:pPr>
                        <a:defRPr sz="1200"/>
                      </a:pPr>
                      <a:r>
                        <a:t>36</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Product &amp; Inventory Performance</a:t>
            </a:r>
          </a:p>
        </p:txBody>
      </p:sp>
      <p:sp>
        <p:nvSpPr>
          <p:cNvPr id="3" name="TextBox 2"/>
          <p:cNvSpPr txBox="1"/>
          <p:nvPr/>
        </p:nvSpPr>
        <p:spPr>
          <a:xfrm>
            <a:off x="457200" y="1371600"/>
            <a:ext cx="8229600" cy="4572000"/>
          </a:xfrm>
          <a:prstGeom prst="rect">
            <a:avLst/>
          </a:prstGeom>
          <a:noFill/>
        </p:spPr>
        <p:txBody>
          <a:bodyPr wrap="square">
            <a:spAutoFit/>
          </a:bodyPr>
          <a:lstStyle/>
          <a:p>
            <a:pPr>
              <a:defRPr sz="1400">
                <a:solidFill>
                  <a:srgbClr val="2C3E50"/>
                </a:solidFill>
              </a:defRPr>
            </a:pPr>
            <a:r>
              <a:t>*   **Top Product Concentration:** The top 5 products by quantity contribute a significant portion of the revenue. This concentration represents both an opportunity and a risk. Optimizing these products further (e.g., bundling, upselling) could drive higher revenue. *   **Revenue per Unit Discrepancy:** SKU-Dz978 generates the highest revenue among the top 5, despite having a relatively low unit sales compared to SKU-uN410, suggesting a higher price point and potential profit margin. *   **Inventory Information Needed:** Without inventory data, it's impossible to determine if these top-selling products are being adequately stocked, or if there are stockouts impacting sales. Furthermore, we cannot calculate inventory turnover rate, which is vital for efficient inventory management.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Customer Demographics &amp; Behavior</a:t>
            </a:r>
          </a:p>
        </p:txBody>
      </p:sp>
      <p:sp>
        <p:nvSpPr>
          <p:cNvPr id="3" name="TextBox 2"/>
          <p:cNvSpPr txBox="1"/>
          <p:nvPr/>
        </p:nvSpPr>
        <p:spPr>
          <a:xfrm>
            <a:off x="457200" y="1371600"/>
            <a:ext cx="8229600" cy="4572000"/>
          </a:xfrm>
          <a:prstGeom prst="rect">
            <a:avLst/>
          </a:prstGeom>
          <a:noFill/>
        </p:spPr>
        <p:txBody>
          <a:bodyPr wrap="square">
            <a:spAutoFit/>
          </a:bodyPr>
          <a:lstStyle/>
          <a:p>
            <a:pPr>
              <a:defRPr sz="1400">
                <a:solidFill>
                  <a:srgbClr val="2C3E50"/>
                </a:solidFill>
              </a:defRPr>
            </a:pPr>
            <a:r>
              <a:t>*   **Missing Customer Data:** The absence of customer demographic data is a major limitation. Understanding customer segments (age, location, purchase behavior, etc.) is essential for targeted marketing, personalized product recommendations, and improved customer retention. *   **Acquisition Channels:** We cannot determine the effectiveness of current acquisition channels, as we don't know where customers originated from.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Financial &amp; Payment Analysis</a:t>
            </a:r>
          </a:p>
        </p:txBody>
      </p:sp>
      <p:sp>
        <p:nvSpPr>
          <p:cNvPr id="3" name="TextBox 2"/>
          <p:cNvSpPr txBox="1"/>
          <p:nvPr/>
        </p:nvSpPr>
        <p:spPr>
          <a:xfrm>
            <a:off x="457200" y="1371600"/>
            <a:ext cx="8229600" cy="4572000"/>
          </a:xfrm>
          <a:prstGeom prst="rect">
            <a:avLst/>
          </a:prstGeom>
          <a:noFill/>
        </p:spPr>
        <p:txBody>
          <a:bodyPr wrap="square">
            <a:spAutoFit/>
          </a:bodyPr>
          <a:lstStyle/>
          <a:p>
            <a:pPr>
              <a:defRPr sz="1400">
                <a:solidFill>
                  <a:srgbClr val="2C3E50"/>
                </a:solidFill>
              </a:defRPr>
            </a:pPr>
            <a:r>
              <a:t>*   **Limited Financial Visibility:** The lack of detailed financial data (e.g., cost of goods sold, operating expenses, profit margins, cash flow) severely restricts any meaningful financial analysis. Understanding profitability per channel and product is crucial for strategic decision-making. *   **Gross vs. Net Revenue:** The difference between gross and net revenue needs further scrutiny, particularly for Amazon. Understanding the reasons for the deductions (fees, returns, discounts) is important for optimizing pricing and channel strategies.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Strategic Recommendations</a:t>
            </a:r>
          </a:p>
        </p:txBody>
      </p:sp>
      <p:sp>
        <p:nvSpPr>
          <p:cNvPr id="3" name="Content Placeholder 2"/>
          <p:cNvSpPr>
            <a:spLocks noGrp="1"/>
          </p:cNvSpPr>
          <p:nvPr>
            <p:ph idx="1"/>
          </p:nvPr>
        </p:nvSpPr>
        <p:spPr/>
        <p:txBody>
          <a:bodyPr/>
          <a:lstStyle/>
          <a:p/>
          <a:p>
            <a:pPr>
              <a:spcBef>
                <a:spcPts val="1000"/>
              </a:spcBef>
              <a:defRPr sz="1600">
                <a:solidFill>
                  <a:srgbClr val="2C3E50"/>
                </a:solidFill>
              </a:defRPr>
            </a:pPr>
            <a:r>
              <a:t>1. Implement Customer Data Collection:** Prioritize gathering customer demographics and purchase behavior data across all channels. This could involve integrating customer relationship management (CRM) software, loyalty programs, or enhanced analytics tracking.</a:t>
            </a:r>
          </a:p>
          <a:p>
            <a:pPr>
              <a:spcBef>
                <a:spcPts val="1000"/>
              </a:spcBef>
              <a:defRPr sz="1600">
                <a:solidFill>
                  <a:srgbClr val="2C3E50"/>
                </a:solidFill>
              </a:defRPr>
            </a:pPr>
            <a:r>
              <a:t>2. Conduct a Channel-Specific Marketing Review:** Analyze the marketing spend and effectiveness for each channel, particularly focusing on improving the performance of the Shopify store. A/B testing and optimizing marketing campaigns could significantly boost sales.</a:t>
            </a:r>
          </a:p>
          <a:p>
            <a:pPr>
              <a:spcBef>
                <a:spcPts val="1000"/>
              </a:spcBef>
              <a:defRPr sz="1600">
                <a:solidFill>
                  <a:srgbClr val="2C3E50"/>
                </a:solidFill>
              </a:defRPr>
            </a:pPr>
            <a:r>
              <a:t>3. Prioritize Inventory Tracking and Management:** Implement a robust inventory tracking system to monitor stock levels, identify slow-moving inventory, and optimize reordering processes. This will help prevent stockouts of popular items and reduce holding costs.</a:t>
            </a:r>
          </a:p>
          <a:p>
            <a:pPr>
              <a:spcBef>
                <a:spcPts val="1000"/>
              </a:spcBef>
              <a:defRPr sz="1600">
                <a:solidFill>
                  <a:srgbClr val="2C3E50"/>
                </a:solidFill>
              </a:defRPr>
            </a:pPr>
            <a:r>
              <a:t>4. Analyze Amazon Fee Structure and Returns:** Investigate the high percentage difference between gross and net revenue on Amazon to identify and address any potential issues, such as high return rates or excessive fees.</a:t>
            </a:r>
          </a:p>
          <a:p>
            <a:pPr>
              <a:spcBef>
                <a:spcPts val="1000"/>
              </a:spcBef>
              <a:defRPr sz="1600">
                <a:solidFill>
                  <a:srgbClr val="2C3E50"/>
                </a:solidFill>
              </a:defRPr>
            </a:pPr>
            <a:r>
              <a:t>5. Calculate Profitability Per Product and Channel:** Calculate the true profitability for each product and sales channel by factoring in all relevant costs (COGS, shipping, marketing, fees). This will help prioritize the most profitable products and channels for future investment.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E67E22"/>
                </a:solidFill>
              </a:defRPr>
            </a:pPr>
            <a:r>
              <a:t>Risk Alerts &amp; Action Items</a:t>
            </a:r>
          </a:p>
        </p:txBody>
      </p:sp>
      <p:sp>
        <p:nvSpPr>
          <p:cNvPr id="3" name="Content Placeholder 2"/>
          <p:cNvSpPr>
            <a:spLocks noGrp="1"/>
          </p:cNvSpPr>
          <p:nvPr>
            <p:ph idx="1"/>
          </p:nvPr>
        </p:nvSpPr>
        <p:spPr/>
        <p:txBody>
          <a:bodyPr/>
          <a:lstStyle/>
          <a:p/>
          <a:p>
            <a:pPr>
              <a:spcBef>
                <a:spcPts val="1000"/>
              </a:spcBef>
              <a:defRPr sz="1600">
                <a:solidFill>
                  <a:srgbClr val="2C3E50"/>
                </a:solidFill>
              </a:defRPr>
            </a:pPr>
            <a:r>
              <a:t>⚠ Over-reliance on a Few Products:** The concentration of sales among the top 5 products creates a dependency risk. A supply chain disruption or decrease in demand for these products could significantly impact overall revenue.</a:t>
            </a:r>
          </a:p>
          <a:p>
            <a:pPr>
              <a:spcBef>
                <a:spcPts val="1000"/>
              </a:spcBef>
              <a:defRPr sz="1600">
                <a:solidFill>
                  <a:srgbClr val="2C3E50"/>
                </a:solidFill>
              </a:defRPr>
            </a:pPr>
            <a:r>
              <a:t>⚠ Lack of Customer Understanding:** Operating without customer data hinders effective marketing and customer retention efforts, potentially leading to missed opportunities and increased customer churn.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