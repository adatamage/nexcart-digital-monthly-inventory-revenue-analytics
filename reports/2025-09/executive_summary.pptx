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3498DB"/>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371600"/>
          </a:xfrm>
          <a:prstGeom prst="rect">
            <a:avLst/>
          </a:prstGeom>
          <a:noFill/>
        </p:spPr>
        <p:txBody>
          <a:bodyPr wrap="none">
            <a:spAutoFit/>
          </a:bodyPr>
          <a:lstStyle/>
          <a:p>
            <a:pPr algn="ctr">
              <a:defRPr sz="4400" b="1">
                <a:solidFill>
                  <a:srgbClr val="FFFFFF"/>
                </a:solidFill>
              </a:defRPr>
            </a:pPr>
            <a:r>
              <a:t>Executive Summary Report</a:t>
            </a:r>
          </a:p>
        </p:txBody>
      </p:sp>
      <p:sp>
        <p:nvSpPr>
          <p:cNvPr id="4" name="TextBox 3"/>
          <p:cNvSpPr txBox="1"/>
          <p:nvPr/>
        </p:nvSpPr>
        <p:spPr>
          <a:xfrm>
            <a:off x="914400" y="3657600"/>
            <a:ext cx="7315200" cy="914400"/>
          </a:xfrm>
          <a:prstGeom prst="rect">
            <a:avLst/>
          </a:prstGeom>
          <a:noFill/>
        </p:spPr>
        <p:txBody>
          <a:bodyPr wrap="none">
            <a:spAutoFit/>
          </a:bodyPr>
          <a:lstStyle/>
          <a:p>
            <a:pPr algn="ctr">
              <a:defRPr sz="2800">
                <a:solidFill>
                  <a:srgbClr val="FFFFFF"/>
                </a:solidFill>
              </a:defRPr>
            </a:pPr>
            <a:r>
              <a:t>September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3498DB"/>
                </a:solidFill>
              </a:defRPr>
            </a:pPr>
            <a:r>
              <a:t>Executive Summary</a:t>
            </a:r>
          </a:p>
        </p:txBody>
      </p:sp>
      <p:sp>
        <p:nvSpPr>
          <p:cNvPr id="3" name="Content Placeholder 2"/>
          <p:cNvSpPr>
            <a:spLocks noGrp="1"/>
          </p:cNvSpPr>
          <p:nvPr>
            <p:ph idx="1"/>
          </p:nvPr>
        </p:nvSpPr>
        <p:spPr/>
        <p:txBody>
          <a:bodyPr wrap="square"/>
          <a:lstStyle/>
          <a:p>
            <a:pPr>
              <a:defRPr sz="1800">
                <a:solidFill>
                  <a:srgbClr val="2C3E50"/>
                </a:solidFill>
              </a:defRPr>
            </a:pPr>
            <a:r>
              <a:t>The business shows strong sales performance for September 2025, with healthy gross and net revenue figures.  Significant differences in net revenue margins across sales channels warrant further investigation.  The top 5 products by quantity contribute only a small percentage to overall revenue, suggesting a need to analyze product diversification and pricing strategies.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Sales &amp; Channel Performance</a:t>
            </a:r>
          </a:p>
        </p:txBody>
      </p:sp>
      <p:sp>
        <p:nvSpPr>
          <p:cNvPr id="3" name="TextBox 2"/>
          <p:cNvSpPr txBox="1"/>
          <p:nvPr/>
        </p:nvSpPr>
        <p:spPr>
          <a:xfrm>
            <a:off x="457200" y="1371600"/>
            <a:ext cx="8229600" cy="1828800"/>
          </a:xfrm>
          <a:prstGeom prst="rect">
            <a:avLst/>
          </a:prstGeom>
          <a:noFill/>
        </p:spPr>
        <p:txBody>
          <a:bodyPr wrap="square">
            <a:spAutoFit/>
          </a:bodyPr>
          <a:lstStyle/>
          <a:p>
            <a:pPr>
              <a:defRPr sz="1400">
                <a:solidFill>
                  <a:srgbClr val="2C3E50"/>
                </a:solidFill>
              </a:defRPr>
            </a:pPr>
            <a:r>
              <a:t>*   **Channel Performance Discrepancies:** Shopify exhibits the highest net revenue margin, while Amazon has the lowest. Investigate the reasons behind these differences. Factors could include higher commission rates on Amazon, differences in shipping costs absorbed by the business versus passed onto the customer, or varying return rates. *   **Order Volume vs. Revenue:** While the total number of orders is reasonable, the Average Order Value (AOV) of $1556.90 is substantial. This could indicate a niche product offering or a focused strategy targeting high-value customers. *   **Channel Diversification:** Sales are well-distributed across all four platforms: Amazon, Shopify, eBay and Walmart with revenues within $33,000. This indicates limited channel risk and is generally positive.</a:t>
            </a:r>
          </a:p>
        </p:txBody>
      </p:sp>
      <p:graphicFrame>
        <p:nvGraphicFramePr>
          <p:cNvPr id="4" name="Table 3"/>
          <p:cNvGraphicFramePr>
            <a:graphicFrameLocks noGrp="1"/>
          </p:cNvGraphicFramePr>
          <p:nvPr/>
        </p:nvGraphicFramePr>
        <p:xfrm>
          <a:off x="457200" y="3474720"/>
          <a:ext cx="8229600" cy="2286000"/>
        </p:xfrm>
        <a:graphic>
          <a:graphicData uri="http://schemas.openxmlformats.org/drawingml/2006/table">
            <a:tbl>
              <a:tblPr firstRow="1" bandRow="1">
                <a:tableStyleId>{5C22544A-7EE6-4342-B048-85BDC9FD1C3A}</a:tableStyleId>
              </a:tblPr>
              <a:tblGrid>
                <a:gridCol w="4114800"/>
                <a:gridCol w="4114800"/>
              </a:tblGrid>
              <a:tr h="762000">
                <a:tc>
                  <a:txBody>
                    <a:bodyPr/>
                    <a:lstStyle/>
                    <a:p>
                      <a:r>
                        <a:t>Metric</a:t>
                      </a:r>
                    </a:p>
                  </a:txBody>
                  <a:tcPr>
                    <a:solidFill>
                      <a:srgbClr val="3498DB"/>
                    </a:solidFill>
                  </a:tcPr>
                </a:tc>
                <a:tc>
                  <a:txBody>
                    <a:bodyPr/>
                    <a:lstStyle/>
                    <a:p>
                      <a:r>
                        <a:t>Value</a:t>
                      </a:r>
                    </a:p>
                  </a:txBody>
                  <a:tcPr>
                    <a:solidFill>
                      <a:srgbClr val="3498DB"/>
                    </a:solidFill>
                  </a:tcPr>
                </a:tc>
              </a:tr>
              <a:tr h="762000">
                <a:tc>
                  <a:txBody>
                    <a:bodyPr/>
                    <a:lstStyle/>
                    <a:p>
                      <a:pPr>
                        <a:defRPr sz="1200"/>
                      </a:pPr>
                      <a:r>
                        <a:t>Total Gross Revenue</a:t>
                      </a:r>
                    </a:p>
                  </a:txBody>
                  <a:tcPr>
                    <a:solidFill>
                      <a:srgbClr val="ECF0F1"/>
                    </a:solidFill>
                  </a:tcPr>
                </a:tc>
                <a:tc>
                  <a:txBody>
                    <a:bodyPr/>
                    <a:lstStyle/>
                    <a:p>
                      <a:pPr>
                        <a:defRPr sz="1200"/>
                      </a:pPr>
                      <a:r>
                        <a:t>$465,513.69</a:t>
                      </a:r>
                    </a:p>
                  </a:txBody>
                  <a:tcPr/>
                </a:tc>
              </a:tr>
              <a:tr h="762000">
                <a:tc>
                  <a:txBody>
                    <a:bodyPr/>
                    <a:lstStyle/>
                    <a:p>
                      <a:pPr>
                        <a:defRPr sz="1200"/>
                      </a:pPr>
                      <a:r>
                        <a:t>Total Orders</a:t>
                      </a:r>
                    </a:p>
                  </a:txBody>
                  <a:tcPr>
                    <a:solidFill>
                      <a:srgbClr val="ECF0F1"/>
                    </a:solidFill>
                  </a:tcPr>
                </a:tc>
                <a:tc>
                  <a:txBody>
                    <a:bodyPr/>
                    <a:lstStyle/>
                    <a:p>
                      <a:pPr>
                        <a:defRPr sz="1200"/>
                      </a:pPr>
                      <a:r>
                        <a:t>299</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Product &amp; Inventory Performance</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   **Top Product Contribution:**  The top 5 products by quantity contribute approximately 13% of total revenue ($14,808.61 + $12,848.32 + $12,170.62 + $14,716.03 + $11,920.03 = $66,463.61 / $465,513.69 = ~13%). This indicates reliance on a broad product portfolio. *   **Potential Inventory Turnover Issues:** Without inventory data, it is impossible to assess turnover rates. High AOV suggests lower inventory turnover, which is fine for some business models but must be deliberately managed. *   **Merchandising Opportunities:** Bundle top-performing products or offer discounts on related items to increase AOV and drive sales for lower-performing products. Create product packages highlighting the synergy of SKU-0011, SKU-0028, SKU-0003, SKU-0021 and SKU-0017.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Customer Demographics &amp; Behavior</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   **Missing Customer Data:** The lack of customer demographic data is a significant blind spot.  It's impossible to understand customer behavior, target specific segments, or personalize marketing efforts. Implementing data collection mechanisms is crucial. *   **Acquisition Effectiveness:** Without customer acquisition cost (CAC) data, it's impossible to gauge the efficiency of acquiring customers through different channels.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Financial &amp; Payment Analysis</a:t>
            </a:r>
          </a:p>
        </p:txBody>
      </p:sp>
      <p:sp>
        <p:nvSpPr>
          <p:cNvPr id="3" name="TextBox 2"/>
          <p:cNvSpPr txBox="1"/>
          <p:nvPr/>
        </p:nvSpPr>
        <p:spPr>
          <a:xfrm>
            <a:off x="457200" y="1371600"/>
            <a:ext cx="8229600" cy="4572000"/>
          </a:xfrm>
          <a:prstGeom prst="rect">
            <a:avLst/>
          </a:prstGeom>
          <a:noFill/>
        </p:spPr>
        <p:txBody>
          <a:bodyPr wrap="square">
            <a:spAutoFit/>
          </a:bodyPr>
          <a:lstStyle/>
          <a:p>
            <a:pPr>
              <a:defRPr sz="1400">
                <a:solidFill>
                  <a:srgbClr val="2C3E50"/>
                </a:solidFill>
              </a:defRPr>
            </a:pPr>
            <a:r>
              <a:t>*   **Missing Financial Data:** Absence of financial data severely limits analysis.  Key metrics like profitability, cash flow, and operating expenses are unknown. *   **Payment Trend Analysis:** Understanding payment methods used by customers on each platform could reveal insights into customer preferences and risk. *   **Discount Impact:** The difference between Gross and Net revenue highlights the impact of discounts, returns, or fees. Understanding the percentage of discounts for each product/channel is helpful.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3498DB"/>
                </a:solidFill>
              </a:defRPr>
            </a:pPr>
            <a:r>
              <a:t>Strategic Recommendations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1. Prioritize Customer Data Collection:** Implement systems to capture customer demographics, purchase history, and preferences. This will enable targeted marketing, personalized recommendations, and improved customer retention.</a:t>
            </a:r>
          </a:p>
          <a:p>
            <a:pPr>
              <a:spcBef>
                <a:spcPts val="1000"/>
              </a:spcBef>
              <a:defRPr sz="1600">
                <a:solidFill>
                  <a:srgbClr val="2C3E50"/>
                </a:solidFill>
              </a:defRPr>
            </a:pPr>
            <a:r>
              <a:t>2. Investigate Channel Profitability:**  Thoroughly analyze the cost structure associated with each sales channel, including commission rates, shipping costs, return rates, and marketing expenses. Optimize channel strategies to maximize profitability.</a:t>
            </a:r>
          </a:p>
          <a:p>
            <a:pPr>
              <a:spcBef>
                <a:spcPts val="1000"/>
              </a:spcBef>
              <a:defRPr sz="1600">
                <a:solidFill>
                  <a:srgbClr val="2C3E50"/>
                </a:solidFill>
              </a:defRPr>
            </a:pPr>
            <a:r>
              <a:t>3. Implement Inventory Management System:** Track inventory levels, turnover rates, and holding costs for each product. This will prevent stockouts, minimize storage costs, and improve overall operational efficiency.</a:t>
            </a:r>
          </a:p>
          <a:p>
            <a:pPr>
              <a:spcBef>
                <a:spcPts val="1000"/>
              </a:spcBef>
              <a:defRPr sz="1600">
                <a:solidFill>
                  <a:srgbClr val="2C3E50"/>
                </a:solidFill>
              </a:defRPr>
            </a:pPr>
            <a:r>
              <a:t>4. Conduct a Product Portfolio Analysis:**  Evaluate the performance of all products, identifying underperforming items that may need to be discontinued or repositioned. Explore opportunities to expand the product line with complementary products.</a:t>
            </a:r>
          </a:p>
          <a:p>
            <a:pPr>
              <a:spcBef>
                <a:spcPts val="1000"/>
              </a:spcBef>
              <a:defRPr sz="1600">
                <a:solidFill>
                  <a:srgbClr val="2C3E50"/>
                </a:solidFill>
              </a:defRPr>
            </a:pPr>
            <a:r>
              <a:t>5. Implement Financial Tracking and Reporting:** Establish a robust system for tracking all financial transactions, generating profit and loss statements, balance sheets, and cash flow statements. This will provide a clear picture of the company's financial health and enable informed decision-making.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E67E22"/>
                </a:solidFill>
              </a:defRPr>
            </a:pPr>
            <a:r>
              <a:t>Risk Alerts &amp; Action Items</a:t>
            </a:r>
          </a:p>
        </p:txBody>
      </p:sp>
      <p:sp>
        <p:nvSpPr>
          <p:cNvPr id="3" name="Content Placeholder 2"/>
          <p:cNvSpPr>
            <a:spLocks noGrp="1"/>
          </p:cNvSpPr>
          <p:nvPr>
            <p:ph idx="1"/>
          </p:nvPr>
        </p:nvSpPr>
        <p:spPr/>
        <p:txBody>
          <a:bodyPr/>
          <a:lstStyle/>
          <a:p/>
          <a:p>
            <a:pPr>
              <a:spcBef>
                <a:spcPts val="1000"/>
              </a:spcBef>
              <a:defRPr sz="1600">
                <a:solidFill>
                  <a:srgbClr val="2C3E50"/>
                </a:solidFill>
              </a:defRPr>
            </a:pPr>
            <a:r>
              <a:t>⚠ Over-reliance on a Few Products:**  While product diversification is good, not knowing which products are driving the most profit and having no customer demographic data could mean the business is vulnerable if customer's preferences change, suppliers have inventory issue or the top products encounter problems.</a:t>
            </a:r>
          </a:p>
          <a:p>
            <a:pPr>
              <a:spcBef>
                <a:spcPts val="1000"/>
              </a:spcBef>
              <a:defRPr sz="1600">
                <a:solidFill>
                  <a:srgbClr val="2C3E50"/>
                </a:solidFill>
              </a:defRPr>
            </a:pPr>
            <a:r>
              <a:t>⚠ Lack of Financial Visibility:** The absence of financial data creates significant risk. The business is operating without a clear understanding of its profitability, cash flow, and financial stability. This could lead to poor decision-making and potential financial distress.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