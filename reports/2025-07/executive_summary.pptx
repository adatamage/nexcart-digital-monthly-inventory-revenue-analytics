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371600"/>
          </a:xfrm>
          <a:prstGeom prst="rect">
            <a:avLst/>
          </a:prstGeom>
          <a:noFill/>
        </p:spPr>
        <p:txBody>
          <a:bodyPr wrap="none">
            <a:spAutoFit/>
          </a:bodyPr>
          <a:lstStyle/>
          <a:p>
            <a:pPr algn="ctr">
              <a:defRPr sz="4400" b="1">
                <a:solidFill>
                  <a:srgbClr val="FFFFFF"/>
                </a:solidFill>
              </a:defRPr>
            </a:pPr>
            <a:r>
              <a:t>Executive Summary Report</a:t>
            </a:r>
          </a:p>
        </p:txBody>
      </p:sp>
      <p:sp>
        <p:nvSpPr>
          <p:cNvPr id="4" name="TextBox 3"/>
          <p:cNvSpPr txBox="1"/>
          <p:nvPr/>
        </p:nvSpPr>
        <p:spPr>
          <a:xfrm>
            <a:off x="914400" y="3657600"/>
            <a:ext cx="7315200" cy="914400"/>
          </a:xfrm>
          <a:prstGeom prst="rect">
            <a:avLst/>
          </a:prstGeom>
          <a:noFill/>
        </p:spPr>
        <p:txBody>
          <a:bodyPr wrap="none">
            <a:spAutoFit/>
          </a:bodyPr>
          <a:lstStyle/>
          <a:p>
            <a:pPr algn="ctr">
              <a:defRPr sz="2800">
                <a:solidFill>
                  <a:srgbClr val="FFFFFF"/>
                </a:solidFill>
              </a:defRPr>
            </a:pPr>
            <a:r>
              <a:t>July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3498DB"/>
                </a:solidFill>
              </a:defRPr>
            </a:pPr>
            <a:r>
              <a:t>Executive Summary</a:t>
            </a:r>
          </a:p>
        </p:txBody>
      </p:sp>
      <p:sp>
        <p:nvSpPr>
          <p:cNvPr id="3" name="Content Placeholder 2"/>
          <p:cNvSpPr>
            <a:spLocks noGrp="1"/>
          </p:cNvSpPr>
          <p:nvPr>
            <p:ph idx="1"/>
          </p:nvPr>
        </p:nvSpPr>
        <p:spPr/>
        <p:txBody>
          <a:bodyPr wrap="square"/>
          <a:lstStyle/>
          <a:p>
            <a:pPr>
              <a:defRPr sz="1800">
                <a:solidFill>
                  <a:srgbClr val="2C3E50"/>
                </a:solidFill>
              </a:defRPr>
            </a:pPr>
            <a:r>
              <a:t>The business performed reasonably well in July 2025, generating a total net revenue of $476,607.91. While sales are distributed across multiple channels, there is room for optimization in channel performance and a need to understand the reasons for the difference between gross and net revenue across each platform. Without additional data (inventory, customer demographics, financials), strategic recommendations are limited but focus on understanding revenue discrepancies and optimizing top-selling products and channels.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Sales &amp; Channel Performance</a:t>
            </a:r>
          </a:p>
        </p:txBody>
      </p:sp>
      <p:sp>
        <p:nvSpPr>
          <p:cNvPr id="3" name="TextBox 2"/>
          <p:cNvSpPr txBox="1"/>
          <p:nvPr/>
        </p:nvSpPr>
        <p:spPr>
          <a:xfrm>
            <a:off x="457200" y="1371600"/>
            <a:ext cx="8229600" cy="1828800"/>
          </a:xfrm>
          <a:prstGeom prst="rect">
            <a:avLst/>
          </a:prstGeom>
          <a:noFill/>
        </p:spPr>
        <p:txBody>
          <a:bodyPr wrap="square">
            <a:spAutoFit/>
          </a:bodyPr>
          <a:lstStyle/>
          <a:p>
            <a:pPr>
              <a:defRPr sz="1400">
                <a:solidFill>
                  <a:srgbClr val="2C3E50"/>
                </a:solidFill>
              </a:defRPr>
            </a:pPr>
            <a:r>
              <a:t>Sales are spread fairly evenly across Walmart, Amazon, eBay, and Shopify, suggesting a well-diversified channel strategy. However, there are differences in the gross-to-net revenue conversion rates across the channels. Shopify has the highest conversion (around 97%), while Walmart has the lowest (around 90%). This discrepancy requires investigation. Are there higher return rates, fees, or promotional discounts offered on specific platforms? The average order value (AOV) of $1773.70 is substantial and suggests a focus on high-value items or bulk purchases. Understanding what drives this high AOV is crucial.</a:t>
            </a:r>
          </a:p>
        </p:txBody>
      </p:sp>
      <p:graphicFrame>
        <p:nvGraphicFramePr>
          <p:cNvPr id="4" name="Table 3"/>
          <p:cNvGraphicFramePr>
            <a:graphicFrameLocks noGrp="1"/>
          </p:cNvGraphicFramePr>
          <p:nvPr/>
        </p:nvGraphicFramePr>
        <p:xfrm>
          <a:off x="457200" y="3474720"/>
          <a:ext cx="8229600" cy="2286000"/>
        </p:xfrm>
        <a:graphic>
          <a:graphicData uri="http://schemas.openxmlformats.org/drawingml/2006/table">
            <a:tbl>
              <a:tblPr firstRow="1" bandRow="1">
                <a:tableStyleId>{5C22544A-7EE6-4342-B048-85BDC9FD1C3A}</a:tableStyleId>
              </a:tblPr>
              <a:tblGrid>
                <a:gridCol w="4114800"/>
                <a:gridCol w="4114800"/>
              </a:tblGrid>
              <a:tr h="762000">
                <a:tc>
                  <a:txBody>
                    <a:bodyPr/>
                    <a:lstStyle/>
                    <a:p>
                      <a:r>
                        <a:t>Metric</a:t>
                      </a:r>
                    </a:p>
                  </a:txBody>
                  <a:tcPr>
                    <a:solidFill>
                      <a:srgbClr val="3498DB"/>
                    </a:solidFill>
                  </a:tcPr>
                </a:tc>
                <a:tc>
                  <a:txBody>
                    <a:bodyPr/>
                    <a:lstStyle/>
                    <a:p>
                      <a:r>
                        <a:t>Value</a:t>
                      </a:r>
                    </a:p>
                  </a:txBody>
                  <a:tcPr>
                    <a:solidFill>
                      <a:srgbClr val="3498DB"/>
                    </a:solidFill>
                  </a:tcPr>
                </a:tc>
              </a:tr>
              <a:tr h="762000">
                <a:tc>
                  <a:txBody>
                    <a:bodyPr/>
                    <a:lstStyle/>
                    <a:p>
                      <a:pPr>
                        <a:defRPr sz="1200"/>
                      </a:pPr>
                      <a:r>
                        <a:t>Total Gross Revenue</a:t>
                      </a:r>
                    </a:p>
                  </a:txBody>
                  <a:tcPr>
                    <a:solidFill>
                      <a:srgbClr val="ECF0F1"/>
                    </a:solidFill>
                  </a:tcPr>
                </a:tc>
                <a:tc>
                  <a:txBody>
                    <a:bodyPr/>
                    <a:lstStyle/>
                    <a:p>
                      <a:pPr>
                        <a:defRPr sz="1200"/>
                      </a:pPr>
                      <a:r>
                        <a:t>$530,337.68</a:t>
                      </a:r>
                    </a:p>
                  </a:txBody>
                  <a:tcPr/>
                </a:tc>
              </a:tr>
              <a:tr h="762000">
                <a:tc>
                  <a:txBody>
                    <a:bodyPr/>
                    <a:lstStyle/>
                    <a:p>
                      <a:pPr>
                        <a:defRPr sz="1200"/>
                      </a:pPr>
                      <a:r>
                        <a:t>Total Orders</a:t>
                      </a:r>
                    </a:p>
                  </a:txBody>
                  <a:tcPr>
                    <a:solidFill>
                      <a:srgbClr val="ECF0F1"/>
                    </a:solidFill>
                  </a:tcPr>
                </a:tc>
                <a:tc>
                  <a:txBody>
                    <a:bodyPr/>
                    <a:lstStyle/>
                    <a:p>
                      <a:pPr>
                        <a:defRPr sz="1200"/>
                      </a:pPr>
                      <a:r>
                        <a:t>299</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Product &amp; Inventory Performance</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The top 5 products by quantity sold represent a significant portion of total sales. Focusing on these products for marketing, promotions, and inventory management is critical. The revenue generated by each of these top-selling items is relatively low given the high AOV, indicating the sale of other, more expensive items. There is an opportunity to bundle these top sellers with higher-value products to increase the overall AOV. Without inventory data, it is impossible to assess inventory turnover and potential stockouts. Understanding the profitability margins for each of these products is also essential.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Customer Demographics &amp; Behavior</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Due to the lack of customer data, there are no insights into customer behavior, demographics, or acquisition effectiveness. Collecting this data is crucial for tailoring marketing efforts, improving customer segmentation, and identifying growth opportunities. Knowing customer demographics could help with targeted advertising and potentially open new avenues for product development.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Financial &amp; Payment Analysis</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The lack of financial data prevents a comprehensive financial analysis. It is impossible to assess profitability, cash flow, or financial risks. Understanding the costs associated with each sale, including cost of goods sold, marketing expenses, and platform fees, is vital for determining true profitability. Analyzing payment trends and potential chargebacks is also important for managing cash flow and mitigating financial risks.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Strategic Recommendations</a:t>
            </a:r>
          </a:p>
        </p:txBody>
      </p:sp>
      <p:sp>
        <p:nvSpPr>
          <p:cNvPr id="3" name="Content Placeholder 2"/>
          <p:cNvSpPr>
            <a:spLocks noGrp="1"/>
          </p:cNvSpPr>
          <p:nvPr>
            <p:ph idx="1"/>
          </p:nvPr>
        </p:nvSpPr>
        <p:spPr/>
        <p:txBody>
          <a:bodyPr/>
          <a:lstStyle/>
          <a:p/>
          <a:p>
            <a:pPr>
              <a:spcBef>
                <a:spcPts val="1000"/>
              </a:spcBef>
              <a:defRPr sz="1600">
                <a:solidFill>
                  <a:srgbClr val="2C3E50"/>
                </a:solidFill>
              </a:defRPr>
            </a:pPr>
            <a:r>
              <a:t>1. Investigate Gross to Net Revenue Discrepancies:** Thoroughly investigate the differences in gross-to-net revenue conversion rates across different sales channels. Identify the factors causing the discrepancies (fees, returns, promotions, shipping costs) and implement strategies to improve net revenue on underperforming channels, particularly Walmart.</a:t>
            </a:r>
          </a:p>
          <a:p>
            <a:pPr>
              <a:spcBef>
                <a:spcPts val="1000"/>
              </a:spcBef>
              <a:defRPr sz="1600">
                <a:solidFill>
                  <a:srgbClr val="2C3E50"/>
                </a:solidFill>
              </a:defRPr>
            </a:pPr>
            <a:r>
              <a:t>2. Optimize Top Selling Product Strategy:** Analyze the profitability of the top 5 selling products. Consider bundling strategies to increase AOV, and ensure adequate inventory levels to avoid stockouts. Explore marketing initiatives specifically targeting these popular products.</a:t>
            </a:r>
          </a:p>
          <a:p>
            <a:pPr>
              <a:spcBef>
                <a:spcPts val="1000"/>
              </a:spcBef>
              <a:defRPr sz="1600">
                <a:solidFill>
                  <a:srgbClr val="2C3E50"/>
                </a:solidFill>
              </a:defRPr>
            </a:pPr>
            <a:r>
              <a:t>3. Implement Customer Data Collection:** Prioritize the collection of customer data, including demographics, purchase history, and channel preference. This data will enable targeted marketing, customer segmentation, and improved understanding of customer behavior.</a:t>
            </a:r>
          </a:p>
          <a:p>
            <a:pPr>
              <a:spcBef>
                <a:spcPts val="1000"/>
              </a:spcBef>
              <a:defRPr sz="1600">
                <a:solidFill>
                  <a:srgbClr val="2C3E50"/>
                </a:solidFill>
              </a:defRPr>
            </a:pPr>
            <a:r>
              <a:t>4. Gather Inventory Data and Analyze Turnover:** Immediately begin tracking inventory levels and calculating inventory turnover rates for all products, especially the top sellers. This will help prevent stockouts and optimize inventory management practices.</a:t>
            </a:r>
          </a:p>
          <a:p>
            <a:pPr>
              <a:spcBef>
                <a:spcPts val="1000"/>
              </a:spcBef>
              <a:defRPr sz="1600">
                <a:solidFill>
                  <a:srgbClr val="2C3E50"/>
                </a:solidFill>
              </a:defRPr>
            </a:pPr>
            <a:r>
              <a:t>5. Develop Detailed Financial Reporting:** Implement a comprehensive financial reporting system that includes cost of goods sold, marketing expenses, platform fees, and other relevant financial data. This will provide a clear picture of profitability, cash flow, and financial risks.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E67E22"/>
                </a:solidFill>
              </a:defRPr>
            </a:pPr>
            <a:r>
              <a:t>Risk Alerts &amp; Action Items</a:t>
            </a:r>
          </a:p>
        </p:txBody>
      </p:sp>
      <p:sp>
        <p:nvSpPr>
          <p:cNvPr id="3" name="Content Placeholder 2"/>
          <p:cNvSpPr>
            <a:spLocks noGrp="1"/>
          </p:cNvSpPr>
          <p:nvPr>
            <p:ph idx="1"/>
          </p:nvPr>
        </p:nvSpPr>
        <p:spPr/>
        <p:txBody>
          <a:bodyPr/>
          <a:lstStyle/>
          <a:p/>
          <a:p>
            <a:pPr>
              <a:spcBef>
                <a:spcPts val="1000"/>
              </a:spcBef>
              <a:defRPr sz="1600">
                <a:solidFill>
                  <a:srgbClr val="2C3E50"/>
                </a:solidFill>
              </a:defRPr>
            </a:pPr>
            <a:r>
              <a:t>⚠ Lack of Inventory Data:** The absence of inventory data poses a significant risk of stockouts for popular products, potentially leading to lost sales and customer dissatisfaction.</a:t>
            </a:r>
          </a:p>
          <a:p>
            <a:pPr>
              <a:spcBef>
                <a:spcPts val="1000"/>
              </a:spcBef>
              <a:defRPr sz="1600">
                <a:solidFill>
                  <a:srgbClr val="2C3E50"/>
                </a:solidFill>
              </a:defRPr>
            </a:pPr>
            <a:r>
              <a:t>⚠ Insufficient Customer Understanding:** The lack of customer data hinders targeted marketing efforts and limits the ability to personalize the customer experience, which could result in lower customer retention and acquisition rates.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