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3498DB"/>
          </a:solidFill>
          <a:ln>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7315200" cy="1371600"/>
          </a:xfrm>
          <a:prstGeom prst="rect">
            <a:avLst/>
          </a:prstGeom>
          <a:noFill/>
        </p:spPr>
        <p:txBody>
          <a:bodyPr wrap="none">
            <a:spAutoFit/>
          </a:bodyPr>
          <a:lstStyle/>
          <a:p>
            <a:pPr algn="ctr">
              <a:defRPr sz="4400" b="1">
                <a:solidFill>
                  <a:srgbClr val="FFFFFF"/>
                </a:solidFill>
              </a:defRPr>
            </a:pPr>
            <a:r>
              <a:t>Executive Summary Report</a:t>
            </a:r>
          </a:p>
        </p:txBody>
      </p:sp>
      <p:sp>
        <p:nvSpPr>
          <p:cNvPr id="4" name="TextBox 3"/>
          <p:cNvSpPr txBox="1"/>
          <p:nvPr/>
        </p:nvSpPr>
        <p:spPr>
          <a:xfrm>
            <a:off x="914400" y="3657600"/>
            <a:ext cx="7315200" cy="914400"/>
          </a:xfrm>
          <a:prstGeom prst="rect">
            <a:avLst/>
          </a:prstGeom>
          <a:noFill/>
        </p:spPr>
        <p:txBody>
          <a:bodyPr wrap="none">
            <a:spAutoFit/>
          </a:bodyPr>
          <a:lstStyle/>
          <a:p>
            <a:pPr algn="ctr">
              <a:defRPr sz="2800">
                <a:solidFill>
                  <a:srgbClr val="FFFFFF"/>
                </a:solidFill>
              </a:defRPr>
            </a:pPr>
            <a:r>
              <a:t>August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a:solidFill>
                  <a:srgbClr val="3498DB"/>
                </a:solidFill>
              </a:defRPr>
            </a:pPr>
            <a:r>
              <a:t>Executive Summary</a:t>
            </a:r>
          </a:p>
        </p:txBody>
      </p:sp>
      <p:sp>
        <p:nvSpPr>
          <p:cNvPr id="3" name="Content Placeholder 2"/>
          <p:cNvSpPr>
            <a:spLocks noGrp="1"/>
          </p:cNvSpPr>
          <p:nvPr>
            <p:ph idx="1"/>
          </p:nvPr>
        </p:nvSpPr>
        <p:spPr/>
        <p:txBody>
          <a:bodyPr wrap="square"/>
          <a:lstStyle/>
          <a:p>
            <a:pPr>
              <a:defRPr sz="1800">
                <a:solidFill>
                  <a:srgbClr val="2C3E50"/>
                </a:solidFill>
              </a:defRPr>
            </a:pPr>
            <a:r>
              <a:t>August 2025 shows solid sales performance with over half a million in gross revenue, driven by strong average order value across various channels. While all channels contribute meaningfully, there's a significant discrepancy between gross and net revenue, particularly on Amazon and eBay, warranting further investigation into fees or discounts. The lack of inventory, customer, and detailed financial data limits a comprehensive assessment.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3498DB"/>
                </a:solidFill>
              </a:defRPr>
            </a:pPr>
            <a:r>
              <a:t>Sales &amp; Channel Performance</a:t>
            </a:r>
          </a:p>
        </p:txBody>
      </p:sp>
      <p:sp>
        <p:nvSpPr>
          <p:cNvPr id="3" name="TextBox 2"/>
          <p:cNvSpPr txBox="1"/>
          <p:nvPr/>
        </p:nvSpPr>
        <p:spPr>
          <a:xfrm>
            <a:off x="457200" y="1371600"/>
            <a:ext cx="8229600" cy="1828800"/>
          </a:xfrm>
          <a:prstGeom prst="rect">
            <a:avLst/>
          </a:prstGeom>
          <a:noFill/>
        </p:spPr>
        <p:txBody>
          <a:bodyPr wrap="square">
            <a:spAutoFit/>
          </a:bodyPr>
          <a:lstStyle/>
          <a:p>
            <a:pPr>
              <a:defRPr sz="1400">
                <a:solidFill>
                  <a:srgbClr val="2C3E50"/>
                </a:solidFill>
              </a:defRPr>
            </a:pPr>
            <a:r>
              <a:t>Total gross revenue is $517,363.39, with an average order value of $1724.54. Sales are distributed relatively evenly across the four channels, with Walmart leading slightly in gross revenue. However, Shopify has the smallest difference between gross and net revenue, indicating lower fees or fewer discounts. The larger discrepancies between gross and net on Amazon and eBay (roughly 15% and 12% difference respectively) should be investigated to understand the cause of these margin impacts. The high average order value suggests a premium product offering or bundled sales.</a:t>
            </a:r>
          </a:p>
        </p:txBody>
      </p:sp>
      <p:graphicFrame>
        <p:nvGraphicFramePr>
          <p:cNvPr id="4" name="Table 3"/>
          <p:cNvGraphicFramePr>
            <a:graphicFrameLocks noGrp="1"/>
          </p:cNvGraphicFramePr>
          <p:nvPr/>
        </p:nvGraphicFramePr>
        <p:xfrm>
          <a:off x="457200" y="3474720"/>
          <a:ext cx="8229600" cy="2286000"/>
        </p:xfrm>
        <a:graphic>
          <a:graphicData uri="http://schemas.openxmlformats.org/drawingml/2006/table">
            <a:tbl>
              <a:tblPr firstRow="1" bandRow="1">
                <a:tableStyleId>{5C22544A-7EE6-4342-B048-85BDC9FD1C3A}</a:tableStyleId>
              </a:tblPr>
              <a:tblGrid>
                <a:gridCol w="4114800"/>
                <a:gridCol w="4114800"/>
              </a:tblGrid>
              <a:tr h="762000">
                <a:tc>
                  <a:txBody>
                    <a:bodyPr/>
                    <a:lstStyle/>
                    <a:p>
                      <a:r>
                        <a:t>Metric</a:t>
                      </a:r>
                    </a:p>
                  </a:txBody>
                  <a:tcPr>
                    <a:solidFill>
                      <a:srgbClr val="3498DB"/>
                    </a:solidFill>
                  </a:tcPr>
                </a:tc>
                <a:tc>
                  <a:txBody>
                    <a:bodyPr/>
                    <a:lstStyle/>
                    <a:p>
                      <a:r>
                        <a:t>Value</a:t>
                      </a:r>
                    </a:p>
                  </a:txBody>
                  <a:tcPr>
                    <a:solidFill>
                      <a:srgbClr val="3498DB"/>
                    </a:solidFill>
                  </a:tcPr>
                </a:tc>
              </a:tr>
              <a:tr h="762000">
                <a:tc>
                  <a:txBody>
                    <a:bodyPr/>
                    <a:lstStyle/>
                    <a:p>
                      <a:pPr>
                        <a:defRPr sz="1200"/>
                      </a:pPr>
                      <a:r>
                        <a:t>Total Gross Revenue</a:t>
                      </a:r>
                    </a:p>
                  </a:txBody>
                  <a:tcPr>
                    <a:solidFill>
                      <a:srgbClr val="ECF0F1"/>
                    </a:solidFill>
                  </a:tcPr>
                </a:tc>
                <a:tc>
                  <a:txBody>
                    <a:bodyPr/>
                    <a:lstStyle/>
                    <a:p>
                      <a:pPr>
                        <a:defRPr sz="1200"/>
                      </a:pPr>
                      <a:r>
                        <a:t>$517,363.39</a:t>
                      </a:r>
                    </a:p>
                  </a:txBody>
                  <a:tcPr/>
                </a:tc>
              </a:tr>
              <a:tr h="762000">
                <a:tc>
                  <a:txBody>
                    <a:bodyPr/>
                    <a:lstStyle/>
                    <a:p>
                      <a:pPr>
                        <a:defRPr sz="1200"/>
                      </a:pPr>
                      <a:r>
                        <a:t>Total Orders</a:t>
                      </a:r>
                    </a:p>
                  </a:txBody>
                  <a:tcPr>
                    <a:solidFill>
                      <a:srgbClr val="ECF0F1"/>
                    </a:solidFill>
                  </a:tcPr>
                </a:tc>
                <a:tc>
                  <a:txBody>
                    <a:bodyPr/>
                    <a:lstStyle/>
                    <a:p>
                      <a:pPr>
                        <a:defRPr sz="1200"/>
                      </a:pPr>
                      <a:r>
                        <a:t>300</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3498DB"/>
                </a:solidFill>
              </a:defRPr>
            </a:pPr>
            <a:r>
              <a:t>Product &amp; Inventory Performance</a:t>
            </a:r>
          </a:p>
        </p:txBody>
      </p:sp>
      <p:sp>
        <p:nvSpPr>
          <p:cNvPr id="3" name="TextBox 2"/>
          <p:cNvSpPr txBox="1"/>
          <p:nvPr/>
        </p:nvSpPr>
        <p:spPr>
          <a:xfrm>
            <a:off x="457200" y="1371600"/>
            <a:ext cx="8229600" cy="4572000"/>
          </a:xfrm>
          <a:prstGeom prst="rect">
            <a:avLst/>
          </a:prstGeom>
          <a:noFill/>
        </p:spPr>
        <p:txBody>
          <a:bodyPr wrap="square">
            <a:spAutoFit/>
          </a:bodyPr>
          <a:lstStyle/>
          <a:p>
            <a:pPr>
              <a:defRPr sz="1400">
                <a:solidFill>
                  <a:srgbClr val="2C3E50"/>
                </a:solidFill>
              </a:defRPr>
            </a:pPr>
            <a:r>
              <a:t>The top 5 products by quantity sold account for only a small percentage of total revenue (approximately $74,515.71 out of $517,363.39, or about 14%). This indicates a long tail of other products contributing to overall sales. While the top sellers appear relatively close in units sold, their revenue contribution varies slightly, suggesting different price points. Without inventory data, it's impossible to determine inventory turnover or identify potential stockout risks for these popular products. Focus on understanding why customers choose these specific top 5 products, and if there are opportunities to promote these more aggressively or offer them as a bundle, as this may drive revenue.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3498DB"/>
                </a:solidFill>
              </a:defRPr>
            </a:pPr>
            <a:r>
              <a:t>Customer Demographics &amp; Behavior</a:t>
            </a:r>
          </a:p>
        </p:txBody>
      </p:sp>
      <p:sp>
        <p:nvSpPr>
          <p:cNvPr id="3" name="TextBox 2"/>
          <p:cNvSpPr txBox="1"/>
          <p:nvPr/>
        </p:nvSpPr>
        <p:spPr>
          <a:xfrm>
            <a:off x="457200" y="1371600"/>
            <a:ext cx="8229600" cy="4572000"/>
          </a:xfrm>
          <a:prstGeom prst="rect">
            <a:avLst/>
          </a:prstGeom>
          <a:noFill/>
        </p:spPr>
        <p:txBody>
          <a:bodyPr wrap="square">
            <a:spAutoFit/>
          </a:bodyPr>
          <a:lstStyle/>
          <a:p>
            <a:pPr>
              <a:defRPr sz="1400">
                <a:solidFill>
                  <a:srgbClr val="2C3E50"/>
                </a:solidFill>
              </a:defRPr>
            </a:pPr>
            <a:r>
              <a:t>Due to the lack of customer demographic data, it is impossible to understand customer behavior, identify geographic opportunities, or assess acquisition effectiveness. This missing data hinders targeted marketing and sales efforts. Without customer data, it's impossible to improve customer retention, personalize the customer experience, or identify new customer segments.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3498DB"/>
                </a:solidFill>
              </a:defRPr>
            </a:pPr>
            <a:r>
              <a:t>Financial &amp; Payment Analysis</a:t>
            </a:r>
          </a:p>
        </p:txBody>
      </p:sp>
      <p:sp>
        <p:nvSpPr>
          <p:cNvPr id="3" name="TextBox 2"/>
          <p:cNvSpPr txBox="1"/>
          <p:nvPr/>
        </p:nvSpPr>
        <p:spPr>
          <a:xfrm>
            <a:off x="457200" y="1371600"/>
            <a:ext cx="8229600" cy="4572000"/>
          </a:xfrm>
          <a:prstGeom prst="rect">
            <a:avLst/>
          </a:prstGeom>
          <a:noFill/>
        </p:spPr>
        <p:txBody>
          <a:bodyPr wrap="square">
            <a:spAutoFit/>
          </a:bodyPr>
          <a:lstStyle/>
          <a:p>
            <a:pPr>
              <a:defRPr sz="1400">
                <a:solidFill>
                  <a:srgbClr val="2C3E50"/>
                </a:solidFill>
              </a:defRPr>
            </a:pPr>
            <a:r>
              <a:t>Without financial data, it's impossible to analyze payment trends, assess cash flow health, or identify financial risks. Understanding payment methods, profitability per channel, and operating expenses are crucial for informed decision-making. The difference between gross and net revenue gives a small glimpse into possible profitability issues.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3498DB"/>
                </a:solidFill>
              </a:defRPr>
            </a:pPr>
            <a:r>
              <a:t>Strategic Recommendations</a:t>
            </a:r>
          </a:p>
        </p:txBody>
      </p:sp>
      <p:sp>
        <p:nvSpPr>
          <p:cNvPr id="3" name="Content Placeholder 2"/>
          <p:cNvSpPr>
            <a:spLocks noGrp="1"/>
          </p:cNvSpPr>
          <p:nvPr>
            <p:ph idx="1"/>
          </p:nvPr>
        </p:nvSpPr>
        <p:spPr/>
        <p:txBody>
          <a:bodyPr/>
          <a:lstStyle/>
          <a:p/>
          <a:p>
            <a:pPr>
              <a:spcBef>
                <a:spcPts val="1000"/>
              </a:spcBef>
              <a:defRPr sz="1600">
                <a:solidFill>
                  <a:srgbClr val="2C3E50"/>
                </a:solidFill>
              </a:defRPr>
            </a:pPr>
            <a:r>
              <a:t>1. Investigate the discrepancies between gross and net revenue on Amazon and eBay.** Determine the source of the differences (fees, discounts, returns, shipping costs, etc.) and negotiate better terms or adjust pricing accordingly.</a:t>
            </a:r>
          </a:p>
          <a:p>
            <a:pPr>
              <a:spcBef>
                <a:spcPts val="1000"/>
              </a:spcBef>
              <a:defRPr sz="1600">
                <a:solidFill>
                  <a:srgbClr val="2C3E50"/>
                </a:solidFill>
              </a:defRPr>
            </a:pPr>
            <a:r>
              <a:t>2. Implement a system to track inventory levels for all products, especially the top 5 sellers.** This will help prevent stockouts, optimize ordering, and improve inventory management.</a:t>
            </a:r>
          </a:p>
          <a:p>
            <a:pPr>
              <a:spcBef>
                <a:spcPts val="1000"/>
              </a:spcBef>
              <a:defRPr sz="1600">
                <a:solidFill>
                  <a:srgbClr val="2C3E50"/>
                </a:solidFill>
              </a:defRPr>
            </a:pPr>
            <a:r>
              <a:t>3. Gather customer demographic data through surveys, loyalty programs, or purchase tracking.** This will enable targeted marketing, personalized offers, and improved customer segmentation.</a:t>
            </a:r>
          </a:p>
          <a:p>
            <a:pPr>
              <a:spcBef>
                <a:spcPts val="1000"/>
              </a:spcBef>
              <a:defRPr sz="1600">
                <a:solidFill>
                  <a:srgbClr val="2C3E50"/>
                </a:solidFill>
              </a:defRPr>
            </a:pPr>
            <a:r>
              <a:t>4. Implement robust financial tracking and reporting.** This should include tracking costs of goods sold (COGS), operating expenses, and profitability by channel and product.</a:t>
            </a:r>
          </a:p>
          <a:p>
            <a:pPr>
              <a:spcBef>
                <a:spcPts val="1000"/>
              </a:spcBef>
              <a:defRPr sz="1600">
                <a:solidFill>
                  <a:srgbClr val="2C3E50"/>
                </a:solidFill>
              </a:defRPr>
            </a:pPr>
            <a:r>
              <a:t>5. Analyze the long tail of product sales.** While the top 5 products are important, understanding what's driving sales for the less popular items can uncover untapped potential. Consider offering bundles, cross-promotions, or highlighting these items to increase their visibility.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E67E22"/>
                </a:solidFill>
              </a:defRPr>
            </a:pPr>
            <a:r>
              <a:t>Risk Alerts &amp; Action Items</a:t>
            </a:r>
          </a:p>
        </p:txBody>
      </p:sp>
      <p:sp>
        <p:nvSpPr>
          <p:cNvPr id="3" name="Content Placeholder 2"/>
          <p:cNvSpPr>
            <a:spLocks noGrp="1"/>
          </p:cNvSpPr>
          <p:nvPr>
            <p:ph idx="1"/>
          </p:nvPr>
        </p:nvSpPr>
        <p:spPr/>
        <p:txBody>
          <a:bodyPr/>
          <a:lstStyle/>
          <a:p/>
          <a:p>
            <a:pPr>
              <a:spcBef>
                <a:spcPts val="1000"/>
              </a:spcBef>
              <a:defRPr sz="1600">
                <a:solidFill>
                  <a:srgbClr val="2C3E50"/>
                </a:solidFill>
              </a:defRPr>
            </a:pPr>
            <a:r>
              <a:t>⚠ Lack of inventory data poses a significant risk of stockouts, lost sales, and dissatisfied customers.** Without insight into inventory levels and turnover, it is impossible to make informed decisions about ordering and production.</a:t>
            </a:r>
          </a:p>
          <a:p>
            <a:pPr>
              <a:spcBef>
                <a:spcPts val="1000"/>
              </a:spcBef>
              <a:defRPr sz="1600">
                <a:solidFill>
                  <a:srgbClr val="2C3E50"/>
                </a:solidFill>
              </a:defRPr>
            </a:pPr>
            <a:r>
              <a:t>⚠ Absence of customer data hinders targeted marketing, personalized customer experience, and effective customer acquisition strategies.** Relying on assumptions about customer behavior can lead to inefficient marketing spend and missed opportunities for growth.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